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1A1A2E"/>
                </a:solidFill>
                <a:latin typeface="Arial"/>
              </a:rPr>
              <a:t>FRP Distribution (MW) — Fire Events by Intensity Bin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Fire Count</c:v>
                </c:pt>
              </c:strCache>
            </c:strRef>
          </c:tx>
          <c:spPr>
            <a:solidFill>
              <a:srgbClr val="E85D0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8A0-E047-8DEC-20116A974CA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8A0-E047-8DEC-20116A974CA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8A0-E047-8DEC-20116A974CA6}"/>
              </c:ext>
            </c:extLst>
          </c:dPt>
          <c:dPt>
            <c:idx val="3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8A0-E047-8DEC-20116A974CA6}"/>
              </c:ext>
            </c:extLst>
          </c:dPt>
          <c:dPt>
            <c:idx val="4"/>
            <c:invertIfNegative val="0"/>
            <c:bubble3D val="0"/>
            <c:spPr>
              <a:solidFill>
                <a:srgbClr val="D484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8A0-E047-8DEC-20116A974CA6}"/>
              </c:ext>
            </c:extLst>
          </c:dPt>
          <c:dPt>
            <c:idx val="5"/>
            <c:invertIfNegative val="0"/>
            <c:bubble3D val="0"/>
            <c:spPr>
              <a:solidFill>
                <a:srgbClr val="B870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8A0-E047-8DEC-20116A974CA6}"/>
              </c:ext>
            </c:extLst>
          </c:dPt>
          <c:cat>
            <c:strRef>
              <c:f>Sheet1!$A$2:$A$7</c:f>
              <c:strCache>
                <c:ptCount val="6"/>
                <c:pt idx="0">
                  <c:v>0–50</c:v>
                </c:pt>
                <c:pt idx="1">
                  <c:v>50–100</c:v>
                </c:pt>
                <c:pt idx="2">
                  <c:v>100–200</c:v>
                </c:pt>
                <c:pt idx="3">
                  <c:v>200–500</c:v>
                </c:pt>
                <c:pt idx="4">
                  <c:v>500–1000</c:v>
                </c:pt>
                <c:pt idx="5">
                  <c:v>1000+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5200</c:v>
                </c:pt>
                <c:pt idx="1">
                  <c:v>3100</c:v>
                </c:pt>
                <c:pt idx="2">
                  <c:v>1800</c:v>
                </c:pt>
                <c:pt idx="3">
                  <c:v>950</c:v>
                </c:pt>
                <c:pt idx="4">
                  <c:v>320</c:v>
                </c:pt>
                <c:pt idx="5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8A0-E047-8DEC-20116A974C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1A1A2E"/>
                </a:solidFill>
                <a:latin typeface="Arial"/>
              </a:rPr>
              <a:t>Pearson Correlation with FRP (frp_mw)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FRP</c:v>
                </c:pt>
              </c:strCache>
            </c:strRef>
          </c:tx>
          <c:spPr>
            <a:solidFill>
              <a:srgbClr val="E85D0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85D0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FE4-FC42-8D30-B525ADB81FAA}"/>
              </c:ext>
            </c:extLst>
          </c:dPt>
          <c:dPt>
            <c:idx val="1"/>
            <c:invertIfNegative val="0"/>
            <c:bubble3D val="0"/>
            <c:spPr>
              <a:solidFill>
                <a:srgbClr val="E85D0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FE4-FC42-8D30-B525ADB81FAA}"/>
              </c:ext>
            </c:extLst>
          </c:dPt>
          <c:dPt>
            <c:idx val="2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FE4-FC42-8D30-B525ADB81FAA}"/>
              </c:ext>
            </c:extLst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FE4-FC42-8D30-B525ADB81FAA}"/>
              </c:ext>
            </c:extLst>
          </c:dPt>
          <c:dPt>
            <c:idx val="4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FE4-FC42-8D30-B525ADB81FAA}"/>
              </c:ext>
            </c:extLst>
          </c:dPt>
          <c:dPt>
            <c:idx val="5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FE4-FC42-8D30-B525ADB81FAA}"/>
              </c:ext>
            </c:extLst>
          </c:dPt>
          <c:dPt>
            <c:idx val="6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FE4-FC42-8D30-B525ADB81FAA}"/>
              </c:ext>
            </c:extLst>
          </c:dPt>
          <c:cat>
            <c:strRef>
              <c:f>Sheet1!$A$2:$A$8</c:f>
              <c:strCache>
                <c:ptCount val="7"/>
                <c:pt idx="0">
                  <c:v>brightness_k</c:v>
                </c:pt>
                <c:pt idx="1">
                  <c:v>scan_area_km2</c:v>
                </c:pt>
                <c:pt idx="2">
                  <c:v>temp_max_c</c:v>
                </c:pt>
                <c:pt idx="3">
                  <c:v>humidity_%</c:v>
                </c:pt>
                <c:pt idx="4">
                  <c:v>latitude</c:v>
                </c:pt>
                <c:pt idx="5">
                  <c:v>longitude</c:v>
                </c:pt>
                <c:pt idx="6">
                  <c:v>wind_speed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0.74</c:v>
                </c:pt>
                <c:pt idx="1">
                  <c:v>0.51</c:v>
                </c:pt>
                <c:pt idx="2">
                  <c:v>0.38</c:v>
                </c:pt>
                <c:pt idx="3">
                  <c:v>-0.28999999999999998</c:v>
                </c:pt>
                <c:pt idx="4">
                  <c:v>0.22</c:v>
                </c:pt>
                <c:pt idx="5">
                  <c:v>0.19</c:v>
                </c:pt>
                <c:pt idx="6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FE4-FC42-8D30-B525ADB81F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1A1A2E"/>
                </a:solidFill>
                <a:latin typeface="Arial"/>
              </a:rPr>
              <a:t>Median FRP by Fire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FRP (MW)</c:v>
                </c:pt>
              </c:strCache>
            </c:strRef>
          </c:tx>
          <c:spPr>
            <a:solidFill>
              <a:srgbClr val="E85D0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6F2-C04B-99B6-583498694DCA}"/>
              </c:ext>
            </c:extLst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6F2-C04B-99B6-583498694DCA}"/>
              </c:ext>
            </c:extLst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6F2-C04B-99B6-583498694DCA}"/>
              </c:ext>
            </c:extLst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6F2-C04B-99B6-583498694DCA}"/>
              </c:ext>
            </c:extLst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6F2-C04B-99B6-583498694DC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Bushfire</c:v>
                </c:pt>
                <c:pt idx="1">
                  <c:v>Forest Fire</c:v>
                </c:pt>
                <c:pt idx="2">
                  <c:v>Agricultural</c:v>
                </c:pt>
                <c:pt idx="3">
                  <c:v>Vegetation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312</c:v>
                </c:pt>
                <c:pt idx="1">
                  <c:v>198</c:v>
                </c:pt>
                <c:pt idx="2">
                  <c:v>87</c:v>
                </c:pt>
                <c:pt idx="3">
                  <c:v>64</c:v>
                </c:pt>
                <c:pt idx="4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6F2-C04B-99B6-583498694D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1A1A2E"/>
                </a:solidFill>
                <a:latin typeface="Arial"/>
              </a:rPr>
              <a:t>Median FRP by Region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FRP (MW)</c:v>
                </c:pt>
              </c:strCache>
            </c:strRef>
          </c:tx>
          <c:spPr>
            <a:solidFill>
              <a:srgbClr val="E85D0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598-4645-AA45-30FDBC83048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598-4645-AA45-30FDBC83048F}"/>
              </c:ext>
            </c:extLst>
          </c:dPt>
          <c:dPt>
            <c:idx val="2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598-4645-AA45-30FDBC83048F}"/>
              </c:ext>
            </c:extLst>
          </c:dPt>
          <c:dPt>
            <c:idx val="3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598-4645-AA45-30FDBC83048F}"/>
              </c:ext>
            </c:extLst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598-4645-AA45-30FDBC83048F}"/>
              </c:ext>
            </c:extLst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598-4645-AA45-30FDBC83048F}"/>
              </c:ext>
            </c:extLst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598-4645-AA45-30FDBC83048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Australasia</c:v>
                </c:pt>
                <c:pt idx="1">
                  <c:v>Sub-Saharan Africa</c:v>
                </c:pt>
                <c:pt idx="2">
                  <c:v>South America</c:v>
                </c:pt>
                <c:pt idx="3">
                  <c:v>North America</c:v>
                </c:pt>
                <c:pt idx="4">
                  <c:v>Asia</c:v>
                </c:pt>
                <c:pt idx="5">
                  <c:v>Europe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287</c:v>
                </c:pt>
                <c:pt idx="1">
                  <c:v>241</c:v>
                </c:pt>
                <c:pt idx="2">
                  <c:v>178</c:v>
                </c:pt>
                <c:pt idx="3">
                  <c:v>134</c:v>
                </c:pt>
                <c:pt idx="4">
                  <c:v>98</c:v>
                </c:pt>
                <c:pt idx="5">
                  <c:v>67</c:v>
                </c:pt>
                <c:pt idx="6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598-4645-AA45-30FDBC8304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1A1A2E"/>
                </a:solidFill>
                <a:latin typeface="Arial"/>
              </a:rPr>
              <a:t>Top Feature Importances (Tuned Random Forest)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 Importance</c:v>
                </c:pt>
              </c:strCache>
            </c:strRef>
          </c:tx>
          <c:spPr>
            <a:solidFill>
              <a:srgbClr val="E85D0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6A0-2248-8B4B-823FE44D124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6A0-2248-8B4B-823FE44D1240}"/>
              </c:ext>
            </c:extLst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6A0-2248-8B4B-823FE44D1240}"/>
              </c:ext>
            </c:extLst>
          </c:dPt>
          <c:dPt>
            <c:idx val="3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6A0-2248-8B4B-823FE44D1240}"/>
              </c:ext>
            </c:extLst>
          </c:dPt>
          <c:dPt>
            <c:idx val="4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6A0-2248-8B4B-823FE44D1240}"/>
              </c:ext>
            </c:extLst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6A0-2248-8B4B-823FE44D1240}"/>
              </c:ext>
            </c:extLst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6A0-2248-8B4B-823FE44D1240}"/>
              </c:ext>
            </c:extLst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6A0-2248-8B4B-823FE44D1240}"/>
              </c:ext>
            </c:extLst>
          </c:dPt>
          <c:cat>
            <c:strRef>
              <c:f>Sheet1!$A$2:$A$9</c:f>
              <c:strCache>
                <c:ptCount val="8"/>
                <c:pt idx="0">
                  <c:v>longitude</c:v>
                </c:pt>
                <c:pt idx="1">
                  <c:v>latitude</c:v>
                </c:pt>
                <c:pt idx="2">
                  <c:v>humidity_%</c:v>
                </c:pt>
                <c:pt idx="3">
                  <c:v>brightness_k</c:v>
                </c:pt>
                <c:pt idx="4">
                  <c:v>temp_max_c</c:v>
                </c:pt>
                <c:pt idx="5">
                  <c:v>scan_area_km2</c:v>
                </c:pt>
                <c:pt idx="6">
                  <c:v>wind_speed</c:v>
                </c:pt>
                <c:pt idx="7">
                  <c:v>elevation_m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0.22</c:v>
                </c:pt>
                <c:pt idx="1">
                  <c:v>0.18</c:v>
                </c:pt>
                <c:pt idx="2">
                  <c:v>0.14000000000000001</c:v>
                </c:pt>
                <c:pt idx="3">
                  <c:v>0.12</c:v>
                </c:pt>
                <c:pt idx="4">
                  <c:v>0.1</c:v>
                </c:pt>
                <c:pt idx="5">
                  <c:v>0.08</c:v>
                </c:pt>
                <c:pt idx="6">
                  <c:v>0.06</c:v>
                </c:pt>
                <c:pt idx="7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16A0-2248-8B4B-823FE44D12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7AC58E5-E4EC-1BB6-4B14-6689453C11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087FC6-D9C7-D510-6271-9F690F2969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5A43A-A5FC-5C4D-AD3B-6B93FA62A21B}" type="datetimeFigureOut">
              <a:rPr lang="en-IT" smtClean="0"/>
              <a:t>27/04/26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BA7989-915C-5FDE-F596-397DE255C6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860EC-9861-8DEE-410D-3E1A491A01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AC294-0C4D-0D45-B904-D1649875CD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26134107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096313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litaqishah/wildfire-risk-dataset-2024-2025-7-region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73152" cy="5143500"/>
          </a:xfrm>
          <a:prstGeom prst="rect">
            <a:avLst/>
          </a:prstGeom>
          <a:solidFill>
            <a:srgbClr val="F4A261">
              <a:alpha val="60000"/>
            </a:srgbClr>
          </a:solidFill>
          <a:ln w="12700">
            <a:solidFill>
              <a:srgbClr val="F4A26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RISK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5029200" cy="36576"/>
          </a:xfrm>
          <a:prstGeom prst="rect">
            <a:avLst/>
          </a:prstGeom>
          <a:solidFill>
            <a:srgbClr val="F4A261">
              <a:alpha val="70000"/>
            </a:srgbClr>
          </a:solidFill>
          <a:ln w="12700">
            <a:solidFill>
              <a:srgbClr val="F4A26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Fire Radiative Power (FRP) from Satellite &amp; Environmental Data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OPIM 5604  |  Group Project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Danilo Tambone  ·  Esha Reddy Ramireddy Gari  ·  Mohammed Rafi  ·  Wenting Wang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7772400" y="365760"/>
            <a:ext cx="1097280" cy="10972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8229600" cy="365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02920" cy="50292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Business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3898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predict and why it matters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502920" cy="50292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8745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1671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patterns, variable relationships, visualizations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502920" cy="50292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6517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 &amp; Results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9443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 families evaluated; best model deep-dive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502920" cy="50292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4290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721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 for fire management agencies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502920" cy="50292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45720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2062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4988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model details (not narrated)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Business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Wildfires destroy millions of hectares annually, costing billions and threatening lives. Emergency response agencies must currently react to fires rather than prepare for them.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asked: can we predict HOW INTENSE a fire will be before it spreads — enabling proactive, not reactive, resource deployment?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6576" cy="3657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4937760" y="914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12984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Wildfire Satellite Dataset — 2024–2025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737360"/>
            <a:ext cx="365760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5029200" y="1783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217920" y="1874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Regions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2606040"/>
            <a:ext cx="365760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5029200" y="26517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1792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(reduced to 11)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3474720"/>
            <a:ext cx="365760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5029200" y="3520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frp_mw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0" y="3611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Fire Radiative Power (MW)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246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Categories: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566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(brightness_k, scan area)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8587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Meteorological (temp, humidity, wind)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1513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(lat, lon, region, country)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4439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Classification (fire_type, season)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Understanding Fire Intensity (FRP)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74320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743200" cy="9144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~3,000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FRP (MW)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928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wildfire events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960120"/>
            <a:ext cx="274320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3383280" y="960120"/>
            <a:ext cx="2743200" cy="9144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383280" y="10515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9.79%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83280" y="16276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8928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IQR method — retained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09360" y="960120"/>
            <a:ext cx="274320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6309360" y="960120"/>
            <a:ext cx="2743200" cy="9144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6309360" y="10515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09360" y="16276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18928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fires &lt; 200 MW</a:t>
            </a:r>
            <a:endParaRPr lang="en-US" sz="95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457200" y="2331720"/>
          <a:ext cx="50292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 17"/>
          <p:cNvSpPr/>
          <p:nvPr/>
        </p:nvSpPr>
        <p:spPr>
          <a:xfrm>
            <a:off x="566928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669280" y="2743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 majority of fires cluster below 200 MW — the distribution is heavily right-skewed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69280" y="32735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fires (1,000+ MW) are rare but represent disproportionate destruction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669280" y="380390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9.79% IQR outliers were retained — they represent real, catastrophic events, not errors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669280" y="433425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Log-transformation applied in advanced models to stabilize variance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Key Variable Relationships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960120"/>
          <a:ext cx="51206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60120"/>
            <a:ext cx="301752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0515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5508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Dominates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897880" y="1417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brightness_k (satellite temperature) has the strongest correlation with FRP at r = 0.74. It is the single best predictor and was force-retained across all model iterations.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760720" y="2240280"/>
            <a:ext cx="301752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23317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5508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Matters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897880" y="2697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and longitude are significant predictors. Fire intensity is highly localized — specific geographic zones consistently produce more destructive fires.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760720" y="3520440"/>
            <a:ext cx="301752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880" y="361188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55080" y="3611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Is Protective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897880" y="3977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shows a negative correlation (r = −0.29). Drier conditions amplify fire intensity, making it a key variable for early-warning thresholds.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18288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term temp_max_c × Bushfire was statistically significant (p &lt; 0.05) and retained in the linear model.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Categorical Predictors &amp; Fire Intensity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914400"/>
          <a:ext cx="42062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846320" y="914400"/>
          <a:ext cx="39319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Bushfires produce ~3.6× higher median FRP than agricultural fires — fire type is the most actionable categorical predictor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57200" y="4133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Australasia and Sub-Saharan Africa are the highest-intensity regions; agencies there require the most resource pre-positioning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57200" y="447141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cardinality reduced from 35 → 11 categories (top 10 + Other) using a 1% frequency threshold to improve model stability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0" y="914400"/>
            <a:ext cx="155448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1828800" y="9144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0" y="914400"/>
            <a:ext cx="1554480" cy="64008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/>
          <p:nvPr/>
        </p:nvSpPr>
        <p:spPr>
          <a:xfrm>
            <a:off x="3657600" y="9144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0" y="914400"/>
            <a:ext cx="1554480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5486400" y="9144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6276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tuned via GridSearchCV (3-fold CV) and evaluated on RMSE, R², Actual vs. Predicted, and Residuals for all three partitions.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029968"/>
            <a:ext cx="1554480" cy="281635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457200" y="2029968"/>
            <a:ext cx="155448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457200" y="20299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254203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200400"/>
            <a:ext cx="1371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iterations: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→ Backward Elimination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Interaction Terms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139696" y="2029968"/>
            <a:ext cx="1554480" cy="281635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2139696" y="2029968"/>
            <a:ext cx="15544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2139696" y="20299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231136" y="254203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Boosted Tree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31136" y="3200400"/>
            <a:ext cx="1371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n_estimators, learning_rate,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max_depth, min_samples_split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22192" y="2029968"/>
            <a:ext cx="1554480" cy="281635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822192" y="2029968"/>
            <a:ext cx="15544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3822192" y="20299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913632" y="254203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13632" y="3200400"/>
            <a:ext cx="1371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n_neighbors, weights, metric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504688" y="2029968"/>
            <a:ext cx="1554480" cy="281635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5504688" y="2029968"/>
            <a:ext cx="1554480" cy="4572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5504688" y="20299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596128" y="254203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(Tuned ★)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96128" y="3200400"/>
            <a:ext cx="1371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n_estimators, max_depth,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187184" y="2029968"/>
            <a:ext cx="1554480" cy="281635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7187184" y="2029968"/>
            <a:ext cx="155448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7187184" y="20299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278624" y="254203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(MLP)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78624" y="3200400"/>
            <a:ext cx="1371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hidden_layers, learning_rate,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(L2 regularization)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321040" cy="332841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 (Baseline)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117.21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Boosted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101.32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(Basic)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Network (Tuned)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🏆 Random Forest (Tuned)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5D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5D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343400"/>
            <a:ext cx="832104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3"/>
          <p:cNvSpPr/>
          <p:nvPr/>
        </p:nvSpPr>
        <p:spPr>
          <a:xfrm>
            <a:off x="594360" y="440740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 improvement in R² over baseline (0.735 vs 0.026). The Tuned Random Forest edges the Neural Network by 0.08 RMSE — selected for interpretability via feature importances.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Tuned Random Forest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960120"/>
          <a:ext cx="50292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669280" y="960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669280" y="1325880"/>
            <a:ext cx="310896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7" name="Text 4"/>
          <p:cNvSpPr/>
          <p:nvPr/>
        </p:nvSpPr>
        <p:spPr>
          <a:xfrm>
            <a:off x="5806440" y="1371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06640" y="13716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83.94 MW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0" y="1965960"/>
            <a:ext cx="310896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0" name="Text 7"/>
          <p:cNvSpPr/>
          <p:nvPr/>
        </p:nvSpPr>
        <p:spPr>
          <a:xfrm>
            <a:off x="5806440" y="2011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406640" y="20116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0.735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0" y="2606040"/>
            <a:ext cx="310896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3" name="Text 10"/>
          <p:cNvSpPr/>
          <p:nvPr/>
        </p:nvSpPr>
        <p:spPr>
          <a:xfrm>
            <a:off x="5806440" y="2651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RMSE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06640" y="26517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60.08 MW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669280" y="3291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Parameters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669280" y="36576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 optimized via GridSearchCV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69280" y="39319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max_depth: controls tree depth to prevent overfit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669280" y="42062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min_samples_split: limits node splitting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669280" y="44805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gap reduced: 31.85 → 60.08 (train)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4187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(lat/lon) accounts for ~40% of predictive power — fires are inherently spatial phenomena.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feature importances from the winning model and EDA patterns — not just model usage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321040" cy="111556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73152" cy="11155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3258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Pre-Positioning of Resources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67335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Longitude and Latitude are the top two predictors (combined ~40% importance). Map historical high-FRP coordinate clusters and pre-deploy firefighting assets — water bombers, ground crews, sensor arrays — to these specific zones before peak fire season, rather than distributing resources uniformly across a region.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96312"/>
            <a:ext cx="8321040" cy="111556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457200" y="2496312"/>
            <a:ext cx="73152" cy="11155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640080" y="254203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258775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Humidity-Based Alert Thresholds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935224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is the strongest meteorological predictor (negative correlation, 14% importance). Implement automated systems that trigger burn bans, logging halts, and increased satellite monitoring frequency when local humidity forecasts fall below defined thresholds in high-risk geographic zones — combining both top feature insights.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758184"/>
            <a:ext cx="8321040" cy="111556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457200" y="3758184"/>
            <a:ext cx="73152" cy="11155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640080" y="380390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849624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GIS Fire Intensity Risk Scoring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197096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Tuned Random Forest into a live GIS dashboard ingesting real-time meteorological and satellite data. The system would generate a continuous FRP Risk Score — predicting not just where a fire may ignite, but how intense it is likely to become — enabling tiered emergency response protocols before a fire reaches crisis scale.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A9F902-EE01-38B0-C313-E868B1474466}"/>
              </a:ext>
            </a:extLst>
          </p:cNvPr>
          <p:cNvSpPr txBox="1"/>
          <p:nvPr/>
        </p:nvSpPr>
        <p:spPr>
          <a:xfrm>
            <a:off x="649706" y="1298448"/>
            <a:ext cx="4572000" cy="26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6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Wildfire Risk Dataset 2024-2025 | 7 Regions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 - </a:t>
            </a:r>
            <a:r>
              <a:rPr lang="en-GB" sz="100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Kaggle</a:t>
            </a:r>
            <a:endParaRPr lang="en-IT" sz="100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73152" cy="1371600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6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Model Details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29077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narrated — provided for reference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Multiple Linear Regression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04088"/>
            <a:ext cx="82296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321040" cy="20116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OLS with all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Backward Elimination (stepwise)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Backward Elim + temp_max_c × Bushfire interaction (p &lt; 0.05)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8849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brightness_k was force-retained in all iterations per professor guidance — it is the strongest individual predictor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3318069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interaction term temp_max_c × fire_type_Bushfire was the only statistically significant interaction (p &lt; 0.05 confirmed via explicit p-value inspection cell)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3779841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were evaluated with Train / Validation / Test splits and diagnostic plots (Actual vs. Predicted + Residuals histogram)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2793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R² across all OLS iterations (~0.026–0.035) confirms that FRP is a strongly non-linear phenomenon — tree-based ensemble methods are required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K-Nearest Neighbors (KNN)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04088"/>
            <a:ext cx="82296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920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RMSE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32888" y="914400"/>
            <a:ext cx="1920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/>
          <p:nvPr/>
        </p:nvSpPr>
        <p:spPr>
          <a:xfrm>
            <a:off x="2532888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117.21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32888" y="14447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08576" y="914400"/>
            <a:ext cx="1920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4608576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08576" y="14447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84264" y="914400"/>
            <a:ext cx="1920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6684264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84264" y="14447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1920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via GridSearchCV over: n_neighbors, weights (uniform / distance), metric (euclidean / manhattan)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487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RMSE of 0.00 is the hallmark of KNN overfitting — it perfectly memorizes training points, then fails to generalize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05409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 of 117.21 (R² = 0.484) represents meaningful improvement over linear regression but far below tree ensemble methods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62102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is sensitive to the curse of dimensionality — with ~20 numeric features, distance metrics become less meaningful in high-dimensional space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1879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was applied (StandardScaler) before KNN fitting to prevent dominance by high-variance numeric features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Gradient Boosted Tree (GBR)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04088"/>
            <a:ext cx="82296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920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RMSE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32888" y="914400"/>
            <a:ext cx="1920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/>
          <p:nvPr/>
        </p:nvSpPr>
        <p:spPr>
          <a:xfrm>
            <a:off x="2532888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101.32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32888" y="14447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08576" y="914400"/>
            <a:ext cx="1920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4608576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08576" y="14447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84264" y="914400"/>
            <a:ext cx="1920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6684264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84264" y="14447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1920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via GridSearchCV: n_estimators {100,200}, learning_rate {0.01,0.05,0.1}, max_depth {3,5,7}, min_samples_split {2,5}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487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Log-transformation (log1p) applied to target variable to stabilize right-skewed FRP distribution; predictions back-transformed via expm1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05409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Restricting max_depth to 3 was key to controlling overfitting — deeper trees memorized training noise without improving generalization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62102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features: Longitude, Latitude, Humidity — consistent with Random Forest and EDA findings, validating geographic primacy of fire intensity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1879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GBR is a sequential ensemble — each tree corrects residuals from the prior tree — making it robust to non-linear patterns but slower to tune than Random Forest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Neural Network (MLPRegressor)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04088"/>
            <a:ext cx="82296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920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77.84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RMSE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32888" y="914400"/>
            <a:ext cx="1920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/>
          <p:nvPr/>
        </p:nvSpPr>
        <p:spPr>
          <a:xfrm>
            <a:off x="2532888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81.68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32888" y="14447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RMSE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08576" y="914400"/>
            <a:ext cx="1920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4608576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08576" y="14447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84264" y="914400"/>
            <a:ext cx="1920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6684264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84264" y="14447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1920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via GridSearchCV: hidden_layer_sizes {(100,), (100,50), (128,64)}, learning_rate_init {0.001, 0.01}, alpha {0.0001, 0.001}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487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early_stopping=True was used during GridSearchCV to prevent overfitting during training; validation fraction used internally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05409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to all features before training — neural networks are highly sensitive to feature scale differences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62102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RMSE gap of ~6 MW (77.84 → 84.02) is tightly controlled, demonstrating that GridSearchCV tuning successfully prevented overfitting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1879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Near-identical performance to Tuned Random Forest (84.02 vs 83.94 RMSE) — Random Forest selected as winner for interpretability via feature importances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3144</TotalTime>
  <Words>1631</Words>
  <Application>Microsoft Macintosh PowerPoint</Application>
  <PresentationFormat>On-screen Show (16:9)</PresentationFormat>
  <Paragraphs>271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Wildfire Risk Prediction — Group Project 2</dc:title>
  <dc:subject>PptxGenJS Presentation</dc:subject>
  <dc:creator>OPIM 5604 Group</dc:creator>
  <cp:lastModifiedBy>Tambone, Danilo</cp:lastModifiedBy>
  <cp:revision>6</cp:revision>
  <dcterms:created xsi:type="dcterms:W3CDTF">2026-04-25T14:35:38Z</dcterms:created>
  <dcterms:modified xsi:type="dcterms:W3CDTF">2026-04-27T19:02:09Z</dcterms:modified>
</cp:coreProperties>
</file>